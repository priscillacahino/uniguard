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74fe12afe3247f0" /><Relationship Type="http://schemas.openxmlformats.org/officeDocument/2006/relationships/extended-properties" Target="/docProps/app.xml" Id="R114d7f6dd8374cb9" /><Relationship Type="http://schemas.openxmlformats.org/officeDocument/2006/relationships/officeDocument" Target="/ppt/presentation.xml" Id="R81587d0a0b074dd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3ab92f2dced4692"/>
  </p:sldMasterIdLst>
  <p:notesMasterIdLst>
    <p:notesMasterId xmlns:r="http://schemas.openxmlformats.org/officeDocument/2006/relationships" r:id="Rb28057578f43485a"/>
  </p:notesMasterIdLst>
  <p:sldIdLst>
    <p:sldId xmlns:r="http://schemas.openxmlformats.org/officeDocument/2006/relationships" id="256" r:id="R02fb18f0d4de45aa"/>
    <p:sldId xmlns:r="http://schemas.openxmlformats.org/officeDocument/2006/relationships" id="257" r:id="Rf7e137c53fd341d5"/>
    <p:sldId xmlns:r="http://schemas.openxmlformats.org/officeDocument/2006/relationships" id="258" r:id="Rd61e1609155b4bce"/>
    <p:sldId xmlns:r="http://schemas.openxmlformats.org/officeDocument/2006/relationships" id="259" r:id="R052a82aef2724156"/>
    <p:sldId xmlns:r="http://schemas.openxmlformats.org/officeDocument/2006/relationships" id="260" r:id="Rdded36f1c4de4c7f"/>
    <p:sldId xmlns:r="http://schemas.openxmlformats.org/officeDocument/2006/relationships" id="261" r:id="R6b9c5b6286d74942"/>
    <p:sldId xmlns:r="http://schemas.openxmlformats.org/officeDocument/2006/relationships" id="262" r:id="R5920064b424549df"/>
    <p:sldId xmlns:r="http://schemas.openxmlformats.org/officeDocument/2006/relationships" id="263" r:id="R3cff51465f2e4cb9"/>
    <p:sldId xmlns:r="http://schemas.openxmlformats.org/officeDocument/2006/relationships" id="264" r:id="Ref3092d636a0409a"/>
    <p:sldId xmlns:r="http://schemas.openxmlformats.org/officeDocument/2006/relationships" id="265" r:id="Ra89f47f0be504e3a"/>
    <p:sldId xmlns:r="http://schemas.openxmlformats.org/officeDocument/2006/relationships" id="266" r:id="R854d37cb979a4a41"/>
    <p:sldId xmlns:r="http://schemas.openxmlformats.org/officeDocument/2006/relationships" id="267" r:id="R7c053332f14e445a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6905a3695af4712" /><Relationship Type="http://schemas.openxmlformats.org/officeDocument/2006/relationships/slideMaster" Target="/ppt/slideMasters/slideMaster1.xml" Id="R73ab92f2dced4692" /><Relationship Type="http://schemas.openxmlformats.org/officeDocument/2006/relationships/notesMaster" Target="/ppt/notesMasters/notesMaster1.xml" Id="Rb28057578f43485a" /><Relationship Type="http://schemas.openxmlformats.org/officeDocument/2006/relationships/presProps" Target="/ppt/presProps.xml" Id="R6f9fc4d3c5d14162" /><Relationship Type="http://schemas.openxmlformats.org/officeDocument/2006/relationships/viewProps" Target="/ppt/viewProps.xml" Id="R9a49308dac7a4cef" /><Relationship Type="http://schemas.openxmlformats.org/officeDocument/2006/relationships/tableStyles" Target="/ppt/tableStyles.xml" Id="Rc665c9cd22724a91" /><Relationship Type="http://schemas.openxmlformats.org/officeDocument/2006/relationships/slide" Target="/ppt/slides/slide1.xml" Id="R02fb18f0d4de45aa" /><Relationship Type="http://schemas.openxmlformats.org/officeDocument/2006/relationships/slide" Target="/ppt/slides/slide2.xml" Id="Rf7e137c53fd341d5" /><Relationship Type="http://schemas.openxmlformats.org/officeDocument/2006/relationships/slide" Target="/ppt/slides/slide3.xml" Id="Rd61e1609155b4bce" /><Relationship Type="http://schemas.openxmlformats.org/officeDocument/2006/relationships/slide" Target="/ppt/slides/slide4.xml" Id="R052a82aef2724156" /><Relationship Type="http://schemas.openxmlformats.org/officeDocument/2006/relationships/slide" Target="/ppt/slides/slide5.xml" Id="Rdded36f1c4de4c7f" /><Relationship Type="http://schemas.openxmlformats.org/officeDocument/2006/relationships/slide" Target="/ppt/slides/slide6.xml" Id="R6b9c5b6286d74942" /><Relationship Type="http://schemas.openxmlformats.org/officeDocument/2006/relationships/slide" Target="/ppt/slides/slide7.xml" Id="R5920064b424549df" /><Relationship Type="http://schemas.openxmlformats.org/officeDocument/2006/relationships/slide" Target="/ppt/slides/slide8.xml" Id="R3cff51465f2e4cb9" /><Relationship Type="http://schemas.openxmlformats.org/officeDocument/2006/relationships/slide" Target="/ppt/slides/slide9.xml" Id="Ref3092d636a0409a" /><Relationship Type="http://schemas.openxmlformats.org/officeDocument/2006/relationships/slide" Target="/ppt/slides/slide10.xml" Id="Ra89f47f0be504e3a" /><Relationship Type="http://schemas.openxmlformats.org/officeDocument/2006/relationships/slide" Target="/ppt/slides/slide11.xml" Id="R854d37cb979a4a41" /><Relationship Type="http://schemas.openxmlformats.org/officeDocument/2006/relationships/slide" Target="/ppt/slides/slide12.xml" Id="R7c053332f14e445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9f6fed25971490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4f8fad77e274273" /><Relationship Type="http://schemas.openxmlformats.org/officeDocument/2006/relationships/notesMaster" Target="/ppt/notesMasters/notesMaster1.xml" Id="R5951a43465d644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efa8dc695f45b3" /><Relationship Type="http://schemas.openxmlformats.org/officeDocument/2006/relationships/notesMaster" Target="/ppt/notesMasters/notesMaster1.xml" Id="Ref795a89542e4fa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d8ecf619974319" /><Relationship Type="http://schemas.openxmlformats.org/officeDocument/2006/relationships/notesMaster" Target="/ppt/notesMasters/notesMaster1.xml" Id="R7100fb6f7d68478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d511dc9a7914a80" /><Relationship Type="http://schemas.openxmlformats.org/officeDocument/2006/relationships/notesMaster" Target="/ppt/notesMasters/notesMaster1.xml" Id="R7d699503bae043d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acec24670564a0b" /><Relationship Type="http://schemas.openxmlformats.org/officeDocument/2006/relationships/notesMaster" Target="/ppt/notesMasters/notesMaster1.xml" Id="Rb70b1f83ed2349a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039603e100844ba" /><Relationship Type="http://schemas.openxmlformats.org/officeDocument/2006/relationships/notesMaster" Target="/ppt/notesMasters/notesMaster1.xml" Id="R4cdc7d5c2cf645f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c5d58473524f80" /><Relationship Type="http://schemas.openxmlformats.org/officeDocument/2006/relationships/notesMaster" Target="/ppt/notesMasters/notesMaster1.xml" Id="Ra48f3d4ba33c437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37cfae2cba44358" /><Relationship Type="http://schemas.openxmlformats.org/officeDocument/2006/relationships/notesMaster" Target="/ppt/notesMasters/notesMaster1.xml" Id="R68dd7132176e4c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bdd5b76f5b14615" /><Relationship Type="http://schemas.openxmlformats.org/officeDocument/2006/relationships/notesMaster" Target="/ppt/notesMasters/notesMaster1.xml" Id="Re74d3c58dc2b46b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e99b4b991b04f30" /><Relationship Type="http://schemas.openxmlformats.org/officeDocument/2006/relationships/notesMaster" Target="/ppt/notesMasters/notesMaster1.xml" Id="Rde82e3e791454a6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717c4a94f0d4932" /><Relationship Type="http://schemas.openxmlformats.org/officeDocument/2006/relationships/notesMaster" Target="/ppt/notesMasters/notesMaster1.xml" Id="Rb6ea82ea0911488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30375155d704798" /><Relationship Type="http://schemas.openxmlformats.org/officeDocument/2006/relationships/notesMaster" Target="/ppt/notesMasters/notesMaster1.xml" Id="R2eabc0db1567431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658d6617b847d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105ef9aefa424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9376a280d8410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1ca6c5cad14cb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e453f02468479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76559c29f24c1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2a79724a56495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bd5c9adf6446c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3482374a324cb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a2645fff2741c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2e47dcc11e45bf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D07E0DA-86CE-4824-A41B-CFD25B7665F3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2BA83B4-6053-4E3A-8A99-9288DC5B690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7A6EBEC-4730-4BD5-9E7B-6297FEB9D25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B632949-37CB-4C07-BC0A-1C925401D12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5E25A42-DB80-449C-950F-9B69FC7FED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8B2C575-3DB1-4AA3-853D-3C95D7D1F8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0B292F6-70AD-4FC9-8BCD-5D7592D0A3D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C7FA952-AE6C-4FE3-9848-974CDF0EA19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50D15AB-23A1-46AA-BFDE-AFF463F2A19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27BE919-649A-476A-8F56-7A60C2360A2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CF7746C-4F4E-41E8-A46C-26203B56F0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75A8977-D582-4766-8E5B-18B59AC8A6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2E56B0B-6FAA-4D43-A3EF-55B09E17015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2E482F0-205F-4529-BA74-B52D6E5C3E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F58B2DB-A4C3-40A9-B324-EF05B06B9D5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413906B-EB0C-42A2-BB50-6F2683F265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EFCF052-B2D6-43DD-98D1-83BB3589716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2BC9B4D-BB21-404D-B6D1-B1105B59AF1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D7ED130-692F-47E8-AA8F-1CD16ED1F8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A29EFB6-DF28-45AF-8D88-71998D791EA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2E5FE9-5CF2-4201-ADDB-91D93DA1F3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56EAA8-123B-4CD5-BC75-F7A8C1CBD4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BB23D3D-2865-4A6C-B784-B0B53F66EC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BB9F0C5-7603-4751-9888-40B319065AE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59E18288-79DB-4BA1-8A49-08CC4AE53AC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0C88493-BFF1-4E2B-A294-ADDE0A48245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63D6BCE6-821B-46CB-9C4E-E71B176CAB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620F127-985A-4962-99B1-2267E42EEB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B85DF2DC-E8A8-4B44-9B96-7A13B223158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7FCC7B8-22F5-43AC-8F69-4EB7C8746F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7198568F-C4A6-4711-8959-BC38E68E44B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9A397F77-F7B0-4D80-AA5D-21A7340BD33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265192D-AA7B-4F89-B3BE-920EE48D8E5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76A033-D865-46E0-97FB-26E259AC39D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E80A8751-2E3F-4759-B92F-A6781524A68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3449932-C377-4530-BB8D-99234B77274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9E9B3FC-B061-40B6-BFDE-9C1CF97A99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28FF4FB-5B7C-4456-8F2E-7304EEFCD8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F941F29-4839-44CF-9D30-2DDBB184187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277085-90BE-47CE-8BFA-D40B53DD21C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2E07CB8-17E0-471A-A2AD-F9825D04E1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A32CF8A-3815-4EBC-9442-ACF586D61F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D37BBE5-F5CD-459B-9CF9-891875AFAC6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5BD83B9-5D2A-4F79-9FF6-5CC66A5B617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C8540C8-1B4B-4A9A-A06B-271E3DBFA1E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8F901BB-1306-4DC7-BA0E-8D431D6C82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83ECCD3-EE63-4848-A7AC-C45E86A52F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CBBDFF5-B1C2-4A02-B3F6-8ACC5FEDFA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53E5383-79DD-4591-AC27-E252F1A3ED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75F82E7-E953-42F8-AB2D-2A494F54A8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92358C4-3BEE-4172-820E-A4098C2C14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C8DF8E3-AEBF-43E6-95F4-B5D86B52FB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02F271-EF8D-4145-8B08-76467B77FB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A76512F-F8AC-4DB4-A181-C7962A83B9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A108F2C-15D3-4E68-873B-464D92BEE82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EA310C1-C387-406C-8E3D-6E0CA4ED9BA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BCB8A69-256B-4FC9-9BB4-585F10432B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286FB13-5A7C-420F-969B-826DFDB16CF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7694d1763744e9b" /><Relationship Type="http://schemas.openxmlformats.org/officeDocument/2006/relationships/slideLayout" Target="/ppt/slideLayouts/slideLayout1.xml" Id="R51aa9d5d574f41b4" /><Relationship Type="http://schemas.openxmlformats.org/officeDocument/2006/relationships/slideLayout" Target="/ppt/slideLayouts/slideLayout2.xml" Id="R4b33fb78b5864e17" /><Relationship Type="http://schemas.openxmlformats.org/officeDocument/2006/relationships/slideLayout" Target="/ppt/slideLayouts/slideLayout3.xml" Id="R064c44b8733042c6" /><Relationship Type="http://schemas.openxmlformats.org/officeDocument/2006/relationships/slideLayout" Target="/ppt/slideLayouts/slideLayout4.xml" Id="R9bb23b9aa66c4871" /><Relationship Type="http://schemas.openxmlformats.org/officeDocument/2006/relationships/slideLayout" Target="/ppt/slideLayouts/slideLayout5.xml" Id="R1f6a582891774a51" /><Relationship Type="http://schemas.openxmlformats.org/officeDocument/2006/relationships/slideLayout" Target="/ppt/slideLayouts/slideLayout6.xml" Id="Rd185a48e28f14a27" /><Relationship Type="http://schemas.openxmlformats.org/officeDocument/2006/relationships/slideLayout" Target="/ppt/slideLayouts/slideLayout7.xml" Id="Rd58102986b5e4f5d" /><Relationship Type="http://schemas.openxmlformats.org/officeDocument/2006/relationships/slideLayout" Target="/ppt/slideLayouts/slideLayout8.xml" Id="Rb5f5ca66f4c344a9" /><Relationship Type="http://schemas.openxmlformats.org/officeDocument/2006/relationships/slideLayout" Target="/ppt/slideLayouts/slideLayout9.xml" Id="R040ff6385caf426c" /><Relationship Type="http://schemas.openxmlformats.org/officeDocument/2006/relationships/slideLayout" Target="/ppt/slideLayouts/slideLayout10.xml" Id="R88eef3f34287444f" /><Relationship Type="http://schemas.openxmlformats.org/officeDocument/2006/relationships/slideLayout" Target="/ppt/slideLayouts/slideLayout11.xml" Id="Rf44be07c3a2045d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F166605-2011-4957-A2D7-C0667745E9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89E4F7E-655C-44BD-95F1-D262262C64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67E36D8-094B-4C87-A7F3-5998BC058B6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8338716-C854-4A3F-8B3F-D8665615EF0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886B377-EBF8-43FE-89D6-076586EB004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aa9d5d574f41b4"/>
    <p:sldLayoutId xmlns:r="http://schemas.openxmlformats.org/officeDocument/2006/relationships" id="2147483650" r:id="R4b33fb78b5864e17"/>
    <p:sldLayoutId xmlns:r="http://schemas.openxmlformats.org/officeDocument/2006/relationships" id="2147483651" r:id="R064c44b8733042c6"/>
    <p:sldLayoutId xmlns:r="http://schemas.openxmlformats.org/officeDocument/2006/relationships" id="2147483652" r:id="R9bb23b9aa66c4871"/>
    <p:sldLayoutId xmlns:r="http://schemas.openxmlformats.org/officeDocument/2006/relationships" id="2147483653" r:id="R1f6a582891774a51"/>
    <p:sldLayoutId xmlns:r="http://schemas.openxmlformats.org/officeDocument/2006/relationships" id="2147483654" r:id="Rd185a48e28f14a27"/>
    <p:sldLayoutId xmlns:r="http://schemas.openxmlformats.org/officeDocument/2006/relationships" id="2147483655" r:id="Rd58102986b5e4f5d"/>
    <p:sldLayoutId xmlns:r="http://schemas.openxmlformats.org/officeDocument/2006/relationships" id="2147483656" r:id="Rb5f5ca66f4c344a9"/>
    <p:sldLayoutId xmlns:r="http://schemas.openxmlformats.org/officeDocument/2006/relationships" id="2147483657" r:id="R040ff6385caf426c"/>
    <p:sldLayoutId xmlns:r="http://schemas.openxmlformats.org/officeDocument/2006/relationships" id="2147483658" r:id="R88eef3f34287444f"/>
    <p:sldLayoutId xmlns:r="http://schemas.openxmlformats.org/officeDocument/2006/relationships" id="2147483659" r:id="Rf44be07c3a2045df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aac8ae13a14d1c" /><Relationship Type="http://schemas.openxmlformats.org/officeDocument/2006/relationships/image" Target="/ppt/media/image.png" Id="R0ce908c3668149ca" /><Relationship Type="http://schemas.openxmlformats.org/officeDocument/2006/relationships/notesSlide" Target="/ppt/notesSlides/notesSlide1.xml" Id="R3b094e11f51248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46b8a2a9ea947a1" /><Relationship Type="http://schemas.openxmlformats.org/officeDocument/2006/relationships/notesSlide" Target="/ppt/notesSlides/notesSlide2.xml" Id="Rdbbb911e7d774d2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8d196ebd8945b8" /><Relationship Type="http://schemas.openxmlformats.org/officeDocument/2006/relationships/notesSlide" Target="/ppt/notesSlides/notesSlide3.xml" Id="R1463af16360a497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16faeecb6447e2" /><Relationship Type="http://schemas.openxmlformats.org/officeDocument/2006/relationships/notesSlide" Target="/ppt/notesSlides/notesSlide4.xml" Id="R6503b1b13bc44b1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3750eadd0d24d40" /><Relationship Type="http://schemas.openxmlformats.org/officeDocument/2006/relationships/image" Target="/ppt/media/image2.png" Id="R57f483094f4443ca" /><Relationship Type="http://schemas.openxmlformats.org/officeDocument/2006/relationships/notesSlide" Target="/ppt/notesSlides/notesSlide5.xml" Id="R53caf39972d44c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280c3162914019" /><Relationship Type="http://schemas.openxmlformats.org/officeDocument/2006/relationships/image" Target="/ppt/media/image3.png" Id="Racd7a4bc8104479d" /><Relationship Type="http://schemas.openxmlformats.org/officeDocument/2006/relationships/notesSlide" Target="/ppt/notesSlides/notesSlide6.xml" Id="R43fa175f10774dd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18790abecb4e2b" /><Relationship Type="http://schemas.openxmlformats.org/officeDocument/2006/relationships/notesSlide" Target="/ppt/notesSlides/notesSlide7.xml" Id="R25e3b19463974af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c9463096a8e4e5f" /><Relationship Type="http://schemas.openxmlformats.org/officeDocument/2006/relationships/notesSlide" Target="/ppt/notesSlides/notesSlide8.xml" Id="R8f9d6dbe21394f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28f6ffab0ca4c91" /><Relationship Type="http://schemas.openxmlformats.org/officeDocument/2006/relationships/notesSlide" Target="/ppt/notesSlides/notesSlide9.xml" Id="R57c29fd4284b4bd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298c3a3d3f74f0c" /><Relationship Type="http://schemas.openxmlformats.org/officeDocument/2006/relationships/image" Target="/ppt/media/image4.png" Id="R0967274d73704d45" /><Relationship Type="http://schemas.openxmlformats.org/officeDocument/2006/relationships/notesSlide" Target="/ppt/notesSlides/notesSlide10.xml" Id="R20f164d3f4434fd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d84a03f5c1047b5" /><Relationship Type="http://schemas.openxmlformats.org/officeDocument/2006/relationships/notesSlide" Target="/ppt/notesSlides/notesSlide11.xml" Id="Rb7065990db0b4a6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795a0eae84a4e36" /><Relationship Type="http://schemas.openxmlformats.org/officeDocument/2006/relationships/image" Target="/ppt/media/image.png" Id="Rc2a7e39ee9ae46f0" /><Relationship Type="http://schemas.openxmlformats.org/officeDocument/2006/relationships/notesSlide" Target="/ppt/notesSlides/notesSlide12.xml" Id="R3e71550c511545e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2F5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7A99C905-55A2-4472-9E81-0E2ACA9AD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46304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B7D7"/>
          </a:solidFill>
          <a:ln xmlns:a="http://schemas.openxmlformats.org/drawingml/2006/main">
            <a:solidFill>
              <a:srgbClr val="31B7D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5536384-9D07-4DB7-8F63-ABD003FCC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0"/>
            <a:ext cx="418795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D36"/>
          </a:solidFill>
          <a:ln xmlns:a="http://schemas.openxmlformats.org/drawingml/2006/main">
            <a:solidFill>
              <a:srgbClr val="061D3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A433D52-8FDA-4CF5-B8FC-2E65027BA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3232"/>
            <a:ext cx="365760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UNIGUARD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AB44167-3F8C-4949-973A-A1C80AD2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5880"/>
            <a:ext cx="7040880" cy="1417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Segurança universitária</a:t>
            </a:r>
            <a:br/>
            <a:r>
              <a:t>conectada ao cuidado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85630C9-2458-4E54-B54D-2045E0A4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71800"/>
            <a:ext cx="658368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00" b="0">
                <a:solidFill>
                  <a:srgbClr val="B8CCE0"/>
                </a:solidFill>
                <a:latin typeface="Aptos"/>
                <a:ea typeface="Aptos"/>
                <a:cs typeface="Aptos"/>
              </a:defRPr>
            </a:pPr>
            <a:r>
              <a:t>Aplicativo SOS com geolocalização e central de monitoramento para apoiar respostas mais rápidas dentro dos campi.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0969B0BF-9BAE-4F20-969D-AA0F32DF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315968"/>
            <a:ext cx="2971800" cy="5029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EA8"/>
          </a:solidFill>
          <a:ln xmlns:a="http://schemas.openxmlformats.org/drawingml/2006/main">
            <a:solidFill>
              <a:srgbClr val="0B5EA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3FF7F72-6B12-446A-8E40-8E451E08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4453128"/>
            <a:ext cx="265176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PRODUTO DIGITAL EM DESENVOLVIMENTO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15DADD5-30DE-4584-82D8-4A5B2711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85216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Priscilla Cahino  •  2026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115CF38-D8BE-45E5-B137-0E7B1725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325880"/>
            <a:ext cx="2468880" cy="24688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e908c3668149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070848" y="1664208"/>
            <a:ext cx="1792224" cy="1792224"/>
          </a:xfrm>
          <a:prstGeom xmlns:a="http://schemas.openxmlformats.org/drawingml/2006/main" prst="rect">
            <a:avLst/>
          </a:prstGeom>
        </p:spPr>
      </p:pic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976E299-5AFD-40E2-91E8-E88B3673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4160520"/>
            <a:ext cx="283464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SOS • LOCALIZAÇÃO • RESPOSTA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ADA47D1-E2F6-465C-9E7F-3D82F6E88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FB0CBC3-12D8-441E-BBBF-12E44521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272620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E9F7019-1E20-4494-A619-5AFBEF83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CONTEXTO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621575-B39C-41C8-BACF-B8A34050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1792"/>
            <a:ext cx="109728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O desafio: pedir ajuda com rapidez e localização clara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F66FEC7-A09F-4B93-9118-6858F2E10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179576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A proposta parte da percepção de insegurança em trajetos universitários e busca reduzir o atrito no pedido de ajuda.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C633A121-DFBA-46BD-A818-F2331FA0F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74519"/>
            <a:ext cx="3383280" cy="3337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DE7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8832B95-6FE6-4626-96FA-F4BFC8C22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48840"/>
            <a:ext cx="530352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EA8"/>
          </a:solidFill>
          <a:ln xmlns:a="http://schemas.openxmlformats.org/drawingml/2006/main">
            <a:solidFill>
              <a:srgbClr val="0B5EA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DA5F26C-1EE7-4C75-9F41-BBDB9BD8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58568"/>
            <a:ext cx="53035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13F51D0-685A-40E3-B821-8C6B48B27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52928"/>
            <a:ext cx="27889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Comunicação fragmentada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D6E35F2-B775-45DB-9B43-321FF4345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84448"/>
            <a:ext cx="2816352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A pessoa precisa descobrir rapidamente quem acionar e como explicar onde está.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D8DDA19-0F35-49F4-ABA8-93E27B1B8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1874519"/>
            <a:ext cx="3383280" cy="3337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DE7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AC31152-C5A1-4ECA-96FA-EA293897A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148840"/>
            <a:ext cx="530352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>
            <a:solidFill>
              <a:srgbClr val="E5484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2C52EDA-9587-405F-BA45-C5DCA23C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258568"/>
            <a:ext cx="53035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7FB404C-4869-4D4D-B31A-84423488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852928"/>
            <a:ext cx="27889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Localização imprecisa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4C86BB0-75C5-4428-A359-7339F423F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584448"/>
            <a:ext cx="2816352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Referências informais dificultam localizar quem solicitou ajuda dentro do campus.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D9E3418F-FA69-4E23-B5D5-55DC81012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874519"/>
            <a:ext cx="3383280" cy="3337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DE7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D4A5BC5-5B0E-4E9E-B0FE-096473F4A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148840"/>
            <a:ext cx="530352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>
            <a:solidFill>
              <a:srgbClr val="F2B13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0EE0019-08C7-4712-BEFD-E1C89A7F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258568"/>
            <a:ext cx="53035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30BD950-0CAE-4C2C-BC74-096A051E4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852928"/>
            <a:ext cx="278892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Baixa rastreabilidade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5F0CF23-9DFD-4562-B92A-235DA0398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584448"/>
            <a:ext cx="2816352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Sem um fluxo digital, o atendimento e seus tempos ficam difíceis de acompanhar.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CE6063D-5967-4620-B000-32B34F1F5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650992"/>
            <a:ext cx="106984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82F57"/>
                </a:solidFill>
                <a:latin typeface="Aptos"/>
                <a:ea typeface="Aptos"/>
                <a:cs typeface="Aptos"/>
              </a:defRPr>
            </a:pPr>
            <a:r>
              <a:t>O UniGuard organiza o pedido de socorro em um único fluxo e transforma localização, horário e contexto em informações úteis para o atendimento.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F4A8A56-FF90-4E59-A46E-192DA661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220071A0-24A8-4733-A8F3-0AC4D4F1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5086074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2F5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852FB10-F1C7-42BB-88B6-B7A7C320B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PROPOSTA DE VALOR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F526129-ECE3-4250-854D-1E67BC9DB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1792"/>
            <a:ext cx="109728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Uma ponte digital entre quem precisa e quem responde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C45DBA1-8125-4415-9CE5-986AD94B1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179576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9C6E1"/>
                </a:solidFill>
                <a:latin typeface="Aptos"/>
                <a:ea typeface="Aptos"/>
                <a:cs typeface="Aptos"/>
              </a:defRPr>
            </a:pPr>
            <a:r>
              <a:t>Experiência simples na ponta, visibilidade operacional na central.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61B065E1-19DC-472C-9100-CA7CFCF7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057400"/>
            <a:ext cx="2423160" cy="1920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EA8"/>
          </a:solidFill>
          <a:ln xmlns:a="http://schemas.openxmlformats.org/drawingml/2006/main">
            <a:solidFill>
              <a:srgbClr val="0B5EA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E692E68-033A-4EEC-B4B8-BCC86338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59" y="2377440"/>
            <a:ext cx="2057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USUÁRIO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692B7F6-DF71-4765-B1CF-F21EAD36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7" y="2907792"/>
            <a:ext cx="201168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Cadastro, contexto e consentimento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2582967-1D40-448A-A2B8-04DA6CA95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6391" y="2578608"/>
            <a:ext cx="320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›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2102937B-FADF-4B3F-9A29-31EAC7B5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39" y="2057400"/>
            <a:ext cx="2423160" cy="1920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5484D"/>
          </a:solidFill>
          <a:ln xmlns:a="http://schemas.openxmlformats.org/drawingml/2006/main">
            <a:solidFill>
              <a:srgbClr val="E5484D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6DD32F8-6CFC-42B9-958B-4B317E92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2377440"/>
            <a:ext cx="2057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SOS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E59F63F-2173-4AD2-8603-6558912C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607" y="2907792"/>
            <a:ext cx="201168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Acionamento com localização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4F3EE46-8988-44E2-864A-2DF537CE1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6752" y="2578608"/>
            <a:ext cx="320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›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2B53BB41-C7ED-4A8D-8E18-A11974ED6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57400"/>
            <a:ext cx="2423160" cy="1920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1B7D7"/>
          </a:solidFill>
          <a:ln xmlns:a="http://schemas.openxmlformats.org/drawingml/2006/main">
            <a:solidFill>
              <a:srgbClr val="31B7D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E944BD6-F174-4C63-8DFD-A5CC89494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377440"/>
            <a:ext cx="2057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FIREBASE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962100A-76E8-48BF-A05B-BA8CE89D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2907792"/>
            <a:ext cx="201168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Autenticação e registro seguro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247ECE1-8C1B-419F-80A7-24F12369C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7112" y="2578608"/>
            <a:ext cx="32004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›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DF95A37D-963D-4A72-A12C-C9047AE96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1159" y="2057400"/>
            <a:ext cx="2423160" cy="19202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A774"/>
          </a:solidFill>
          <a:ln xmlns:a="http://schemas.openxmlformats.org/drawingml/2006/main">
            <a:solidFill>
              <a:srgbClr val="1FA77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A9B1552-E228-4EE6-BE4D-5A982BDC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39" y="2377440"/>
            <a:ext cx="2057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OPERADOR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6FF5C74-8CD5-4FA1-9FC4-745BDF2A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328" y="2907792"/>
            <a:ext cx="2011680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Triagem, despacho e conclusão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2E3E10-B0C9-49ED-A6E2-5F059D1A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00600"/>
            <a:ext cx="100584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Resultado esperado: reduzir incerteza, padronizar o atendimento e gerar dados para decisões preventivas.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F022962-A560-4AEA-A677-CFE348B21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66D8D466-FEE2-4ED5-8CD1-F48BC92B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023420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B7FC65A-CB17-4AF9-AC9A-7BC4B0E01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JORNADA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EDBE44D-4B2F-45C3-9A23-0A8AE09B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1792"/>
            <a:ext cx="109728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Do toque no SOS ao encerramento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EDCB05D-C7E7-420D-ACD3-14387E30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179576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O fluxo foi desenhado para ser rápido, rastreável e compreensível.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F8D73D44-E4C1-482B-9ED5-56D94B40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" y="2148840"/>
            <a:ext cx="1335024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C17522B-3F37-4095-8003-E7FD7B242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" y="2331720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01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CFD2F56-ACBC-4F08-96DF-59D7718A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816352"/>
            <a:ext cx="1152144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Identificação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F09A83D3-2D99-43C9-A45D-8D2BF751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4792" y="25877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9406CCF6-07DF-4BB1-B6D8-596BD6061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5688" y="2148840"/>
            <a:ext cx="1335024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F94CABB-F129-4C54-9C99-F64A0761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5416" y="2331720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DC9C9F7-178C-4886-9358-9A101565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7128" y="2816352"/>
            <a:ext cx="1152144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Permissão GPS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E656ED5-50D2-4AF8-ABCC-17B0589F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877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C81CA18D-E6AD-4010-B876-998D4A62D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896" y="2148840"/>
            <a:ext cx="1335024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5DC0EA1-2491-4319-A9BD-C27914B41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9624" y="2331720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1DB46F1-0163-4F36-A91B-0AAB6ED4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1335" y="2816352"/>
            <a:ext cx="1152144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Acionamento SOS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4F67634-2825-4AD5-A0AA-57FC3C0F4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3208" y="25877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1CCB5E13-E7F2-4E78-841A-1657FC247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104" y="2148840"/>
            <a:ext cx="1335024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6D59186-137D-4E83-A15A-841F32E09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3832" y="2331720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04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750FF78-C2C8-458A-801E-B77865AE4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544" y="2816352"/>
            <a:ext cx="1152144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Alerta na central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15D4A56-9DBC-406A-A657-089B6A11A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877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B915BA76-1723-454E-BEE8-1D91260F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8312" y="2148840"/>
            <a:ext cx="1335024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EFA67DD-E13E-4950-9789-47B18B7B2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331720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05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6AEB85F-3641-4666-8532-7492012E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9752" y="2816352"/>
            <a:ext cx="1152144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Despacho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76101F17-4E61-480A-8272-78E8D9C9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1624" y="25877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50A602E7-334A-4B17-AA66-122355F58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19" y="2148840"/>
            <a:ext cx="1335024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FCE42EC8-CD43-4A0E-B30F-8B44247F9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2247" y="2331720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06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630B670A-E311-449A-9452-5ACBAA2E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59" y="2816352"/>
            <a:ext cx="1152144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Atendimento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D65B3F50-19C8-4351-AA7C-10EF3B87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832" y="2587752"/>
            <a:ext cx="320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31DA9CE2-F7A4-4FE5-8019-B753B11F9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6728" y="2148840"/>
            <a:ext cx="1335024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2C363728-083F-43D4-B39A-D7494F8A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455" y="2331720"/>
            <a:ext cx="10972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07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EBBC406E-6278-4B6C-9D64-6809BEAB9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8167" y="2816352"/>
            <a:ext cx="1152144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Registro</a:t>
            </a:r>
          </a:p>
        </p:txBody>
      </p:sp>
      <p:sp>
        <p:nvSpPr>
          <p:cNvPr id="32" name="Rounded Rectangle 31">
            <a:extLst xmlns:a="http://schemas.openxmlformats.org/drawingml/2006/main">
              <a:ext uri="{FF2B5EF4-FFF2-40B4-BE49-F238E27FC236}">
                <a16:creationId xmlns:a16="http://schemas.microsoft.com/office/drawing/2014/main" id="{A11702F2-3BAD-4884-815A-BBA20A0C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343400"/>
            <a:ext cx="10515600" cy="960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8F4FA"/>
          </a:solidFill>
          <a:ln xmlns:a="http://schemas.openxmlformats.org/drawingml/2006/main">
            <a:solidFill>
              <a:srgbClr val="E8F4F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BB006C42-8D61-4C51-BD35-D9998BF6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17720"/>
            <a:ext cx="987552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82F57"/>
                </a:solidFill>
                <a:latin typeface="Aptos"/>
                <a:ea typeface="Aptos"/>
                <a:cs typeface="Aptos"/>
              </a:defRPr>
            </a:pPr>
            <a:r>
              <a:t>Princípio de experiência: em uma situação de estresse, o sistema deve pedir somente o essencial e devolver uma confirmação clara.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D827A545-0C92-4598-A6E8-99741838A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FBA777AF-D124-40FB-90B5-8DF9066E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451097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E24B974-1595-4481-9512-40BA21FDA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EXPERIÊNCIA MOBILE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45B2263-3C5D-4C90-B46B-6F882F35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1792"/>
            <a:ext cx="109728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Cadastro inclusivo e preparado para o contexto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20BC846-8C52-435A-9323-B93F567E9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179576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A validação foi ampliada para aceitar qualquer e-mail válido — inclusive visitantes em trânsito no campus.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9ADDD623-E92F-423E-9C12-9F98F75C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3657600" cy="44074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DE7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7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f483094f4443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41248" y="1941203"/>
            <a:ext cx="3291840" cy="3926569"/>
          </a:xfrm>
          <a:prstGeom xmlns:a="http://schemas.openxmlformats.org/drawingml/2006/main" prst="rect">
            <a:avLst/>
          </a:prstGeom>
        </p:spPr>
      </p:pic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A7156625-2D0D-473B-B26C-0CBCE3EB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1847088"/>
            <a:ext cx="66294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DE7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4DA4E18-308D-49B2-9823-16D40F4BE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2048256"/>
            <a:ext cx="128016" cy="640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EA8"/>
          </a:solidFill>
          <a:ln xmlns:a="http://schemas.openxmlformats.org/drawingml/2006/main">
            <a:solidFill>
              <a:srgbClr val="0B5EA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DA85362-4A6A-4927-A7E3-109BBA19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011680"/>
            <a:ext cx="5669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Acesso mais inclusivo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4293C59-3D47-42C3-800D-E177751F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2359152"/>
            <a:ext cx="5669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Qualquer pessoa pode iniciar o fluxo sem depender de domínio institucional.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A66539F-89E8-4E11-ABB1-DE9FBAAF9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00400"/>
            <a:ext cx="66294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DE7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D674F4E9-81FC-4C79-8C41-FB2B0C9C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3401568"/>
            <a:ext cx="128016" cy="640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1B7D7"/>
          </a:solidFill>
          <a:ln xmlns:a="http://schemas.openxmlformats.org/drawingml/2006/main">
            <a:solidFill>
              <a:srgbClr val="31B7D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589F0C7-3450-44F8-94DA-E81363AA1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364992"/>
            <a:ext cx="5669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Identificação contextual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A58065D3-A010-4BE7-95A3-EEC0CBA2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3712464"/>
            <a:ext cx="5669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Vínculo, matrícula/CPF, telefone e contato de emergência apoiam a triagem.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3B79008E-B648-4ABB-B21A-E2338C25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553712"/>
            <a:ext cx="66294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DE7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89BFB31-64F2-4AAC-A72C-F50707DD7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912" y="4754880"/>
            <a:ext cx="128016" cy="640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A774"/>
          </a:solidFill>
          <a:ln xmlns:a="http://schemas.openxmlformats.org/drawingml/2006/main">
            <a:solidFill>
              <a:srgbClr val="1FA77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3040118-BA9A-4FE8-BB2D-86FEDF31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4718304"/>
            <a:ext cx="56692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Privacidade por desenho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9DF4DFD-54D4-45D6-87D4-EE1AF243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0" y="5065776"/>
            <a:ext cx="5669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Coletar somente o necessário, com consentimento e finalidade explícita.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1122AE6-A339-4427-B252-2BDE8207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5833872"/>
            <a:ext cx="64008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Tela ilustrativa registrada durante o desenvolvimento; dados pessoais foram omitidos na análise.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4AF8C38-75DA-4095-B0A3-77A9FD1C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5EE5A9F-9A0B-4A99-9AC8-A3542A42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8487601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2F5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A73906D-0978-4DE3-94E1-D85C7E19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IMPLANTAÇÃO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53E98F2-42B2-4DC5-9B98-71829A61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1792"/>
            <a:ext cx="109728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Aplicação web publicada e acessível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576836E-545E-4AFC-A391-DA0F7690B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179576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9C6E1"/>
                </a:solidFill>
                <a:latin typeface="Aptos"/>
                <a:ea typeface="Aptos"/>
                <a:cs typeface="Aptos"/>
              </a:defRPr>
            </a:pPr>
            <a:r>
              <a:t>A entrega contínua conecta o repositório à versão disponível para testes.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A1336344-1280-484B-A3B0-8708B3CE1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072" y="1664208"/>
            <a:ext cx="7726679" cy="4297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d7a4bc8104479d"/>
          <a:srcRect xmlns:a="http://schemas.openxmlformats.org/drawingml/2006/main" l="7080" t="0" r="708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4944" y="1783080"/>
            <a:ext cx="7498079" cy="4041648"/>
          </a:xfrm>
          <a:prstGeom xmlns:a="http://schemas.openxmlformats.org/drawingml/2006/main" prst="rect">
            <a:avLst/>
          </a:prstGeom>
        </p:spPr>
      </p:pic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EC67A20-1718-42EF-A430-7E5986ED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1755648"/>
            <a:ext cx="2971800" cy="10789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EA8"/>
          </a:solidFill>
          <a:ln xmlns:a="http://schemas.openxmlformats.org/drawingml/2006/main">
            <a:solidFill>
              <a:srgbClr val="0B5EA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71EDB22-FBCE-450C-9FC7-27C09497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20240"/>
            <a:ext cx="2560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GITHUB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DB4C9F2-86D2-4D44-8BEE-BC4CEFFEB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240280"/>
            <a:ext cx="248716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Código versionado na branch principal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2E9F3A3-F7C3-448A-8EBB-63C087933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3108960"/>
            <a:ext cx="2971800" cy="10789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A774"/>
          </a:solidFill>
          <a:ln xmlns:a="http://schemas.openxmlformats.org/drawingml/2006/main">
            <a:solidFill>
              <a:srgbClr val="1FA77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B04C114-38EF-4EA1-88D6-EDC8ECBD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3273552"/>
            <a:ext cx="2560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VERCEL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0925D2B-E209-4F0F-8581-5308856B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3593591"/>
            <a:ext cx="248716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Implantação automática em produção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7E20EDDF-14C3-43A8-BAEB-F51324A1A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7072" y="4462272"/>
            <a:ext cx="2971800" cy="107899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>
            <a:solidFill>
              <a:srgbClr val="F2B13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2D61C8D-B135-4F69-9E97-065FE94D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4626864"/>
            <a:ext cx="25603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MOBILE WEB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CBBC384-22A9-4A75-A605-E326F560A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4946904"/>
            <a:ext cx="248716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Acesso para testes pelo navegador do celular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49CC960-71B0-4F10-957C-CCA24EF2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1080" y="5650992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0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Versão demonstrativa publicada na Vercel.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E21BDE2C-D66D-4858-8C27-E94BBAF91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577C501-79A2-4A37-BE28-9C7AA5A91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2081263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271E23-16AE-4678-9B12-94D7B0CD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TECNOLOGIA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461BFEE-EDFA-4009-BBED-0EA5DA216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1792"/>
            <a:ext cx="109728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Arquitetura modular e evolutiva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87522D0-4198-4BAE-857B-337BC18EA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179576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Os componentes atuais permitem testar o ciclo completo do alerta.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4874B0D1-8BA1-49E0-BE24-4C2FE5E99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664208"/>
            <a:ext cx="1010412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82F57"/>
          </a:solidFill>
          <a:ln xmlns:a="http://schemas.openxmlformats.org/drawingml/2006/main">
            <a:solidFill>
              <a:srgbClr val="082F5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BC94006-B0B2-4C45-A46F-0248B26C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1865376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APP ANDROID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49F4476-A133-4D5E-BFEB-19A3DC46A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1865376"/>
            <a:ext cx="6583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Kotlin • permissões • SOS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8CAED63-6530-428F-9E11-2C781EE5F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724912"/>
            <a:ext cx="1010412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EA8"/>
          </a:solidFill>
          <a:ln xmlns:a="http://schemas.openxmlformats.org/drawingml/2006/main">
            <a:solidFill>
              <a:srgbClr val="0B5EA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5212392-9739-445C-8C6D-C09C4497B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26080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PAINEL WEB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E19890A-E00C-4F81-8455-E9C4BEB2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2926080"/>
            <a:ext cx="6583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React • TypeScript • Vite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F4F5EA7-18DD-43AE-8E64-289C6C80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785615"/>
            <a:ext cx="1010412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1B7D7"/>
          </a:solidFill>
          <a:ln xmlns:a="http://schemas.openxmlformats.org/drawingml/2006/main">
            <a:solidFill>
              <a:srgbClr val="31B7D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DECDFE1-95DF-4CBB-8847-79560436F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3986783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SERVIÇOS FIREBASE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9140969-15D5-4D97-821E-AAFB75A2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3986783"/>
            <a:ext cx="6583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Authentication • Firestore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EADCD3DD-7C5A-4C26-AB2D-8BAF6258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46320"/>
            <a:ext cx="1010412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A774"/>
          </a:solidFill>
          <a:ln xmlns:a="http://schemas.openxmlformats.org/drawingml/2006/main">
            <a:solidFill>
              <a:srgbClr val="1FA77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92F2C09-B3B8-4CC2-AF7E-25DA769A9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5047488"/>
            <a:ext cx="274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ENTREGA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86F6AEC-1AFA-4D0A-9B82-34166A48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9080" y="5047488"/>
            <a:ext cx="658368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GitHub • Vercel • CI/CD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29D26D3-1155-4232-95D6-A1F2EC391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25312"/>
            <a:ext cx="98755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082F57"/>
                </a:solidFill>
                <a:latin typeface="Aptos"/>
                <a:ea typeface="Aptos"/>
                <a:cs typeface="Aptos"/>
              </a:defRPr>
            </a:pPr>
            <a:r>
              <a:t>O mesmo Firestore conecta a experiência do usuário à visão do operador.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31E07FC2-6A9A-42EF-A33C-3DFFCCA5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5BE90EA-9DD6-45ED-AB8C-30FCCF163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4975068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CF71538-444D-4769-A06A-15CDFE3F6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CONFIANÇA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08BC13-593F-4ABF-8CF6-B3653F73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1792"/>
            <a:ext cx="109728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Segurança e privacidade são requisitos do produto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C2A9AC9-64BD-4398-967B-B2DE59D43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179576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Localização e dados pessoais exigem controles proporcionais ao risco.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1AAB87D3-8E04-48E9-990F-540E3F52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7360"/>
            <a:ext cx="5257800" cy="4069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0D6676A-4ACE-4B39-BD7C-EC18A1B3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7360"/>
            <a:ext cx="525780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A774"/>
          </a:solidFill>
          <a:ln xmlns:a="http://schemas.openxmlformats.org/drawingml/2006/main">
            <a:solidFill>
              <a:srgbClr val="1FA77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6AF8426-A67D-4844-8EFC-126651BFF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920240"/>
            <a:ext cx="4709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JÁ IMPLEMENTADO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3DD6C51-2D7B-41F3-A8DF-053504C6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51760"/>
            <a:ext cx="320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1FA774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B78331B-5FB4-47A5-9FDA-C8FDC0F0D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2596896"/>
            <a:ext cx="41605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Autenticação Firebase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CDE62F7-14F3-49D6-8463-9ADA9E637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310128"/>
            <a:ext cx="320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1FA774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4612845-DF67-4FD4-8D07-3780C5A42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3255263"/>
            <a:ext cx="41605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Regras de acesso no Firestore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3A74D3-F973-41CC-8B83-87A0646D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3968496"/>
            <a:ext cx="320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1FA774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0540C-D39C-429D-AFF9-C0EBF8720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3913631"/>
            <a:ext cx="41605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Perfis separados: usuário e operador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452DF92-3919-4620-A779-26779647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626864"/>
            <a:ext cx="320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1FA774"/>
                </a:solidFill>
                <a:latin typeface="Aptos"/>
                <a:ea typeface="Aptos"/>
                <a:cs typeface="Aptos"/>
              </a:defRPr>
            </a:pPr>
            <a:r>
              <a:t>✓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57D1CE8-E01F-40D5-80C0-EBBCB85FF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9032" y="4572000"/>
            <a:ext cx="41605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Bloqueio de exclusão de alertas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9E126ED-CFA1-4BEF-83F2-0BEC4790C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737360"/>
            <a:ext cx="5257800" cy="40690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EB2A3F49-90CB-4844-B74D-70A6A3CDD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737360"/>
            <a:ext cx="525780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>
            <a:solidFill>
              <a:srgbClr val="F2B13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E680CD56-D66F-4122-8526-A7367EBC9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920240"/>
            <a:ext cx="47091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PRÓXIMAS CAMADAS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4CC5B7-90A6-414C-87AB-8B81ECF4F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51760"/>
            <a:ext cx="320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F2B134"/>
                </a:solidFill>
                <a:latin typeface="Aptos"/>
                <a:ea typeface="Aptos"/>
                <a:cs typeface="Aptos"/>
              </a:defRPr>
            </a:pPr>
            <a:r>
              <a:t>○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92DE87F3-740D-4EC0-9845-997C642EA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2596896"/>
            <a:ext cx="41605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Verificação de propriedade do e-mail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DB421564-B6F3-40A5-9B8E-2487BFDB8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10128"/>
            <a:ext cx="320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F2B134"/>
                </a:solidFill>
                <a:latin typeface="Aptos"/>
                <a:ea typeface="Aptos"/>
                <a:cs typeface="Aptos"/>
              </a:defRPr>
            </a:pPr>
            <a:r>
              <a:t>○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719BA04-DF85-4173-A9E9-2511E51E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3255263"/>
            <a:ext cx="41605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Política de privacidade e consentimento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3DA0A92-E0BB-479C-87DE-AD4076B93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968496"/>
            <a:ext cx="320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F2B134"/>
                </a:solidFill>
                <a:latin typeface="Aptos"/>
                <a:ea typeface="Aptos"/>
                <a:cs typeface="Aptos"/>
              </a:defRPr>
            </a:pPr>
            <a:r>
              <a:t>○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0DE1C8E-6564-4846-875E-D853B52B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3913631"/>
            <a:ext cx="41605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Retenção e anonimização de dados</a:t>
            </a: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A09A2E6C-D25D-40D3-BB84-BBEA45FEB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26864"/>
            <a:ext cx="3200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F2B134"/>
                </a:solidFill>
                <a:latin typeface="Aptos"/>
                <a:ea typeface="Aptos"/>
                <a:cs typeface="Aptos"/>
              </a:defRPr>
            </a:pPr>
            <a:r>
              <a:t>○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65AA03A5-4DB9-4D50-A373-D73BEA7A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2592" y="4572000"/>
            <a:ext cx="416052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App Check, logs e auditoria institucional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0E124DFC-CC1F-45DC-9F33-23DF04E7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60528A1E-A8AD-4E2B-A5A7-71F664AFF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767680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7B071BE-D372-4666-B49F-6EBFDBA0A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VALIDAÇÃO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380939D-CDEF-4666-BEFE-8CA18379E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1792"/>
            <a:ext cx="109728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Validação técnica do fluxo principal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E3E15E0-927E-4F72-A000-9A5DE6D81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179576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Testes realizados no ambiente de desenvolvimento e na implantação demonstrativa.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0023D0A7-42B5-4CEA-903E-8B64CA5A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91640"/>
            <a:ext cx="3401568" cy="16276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118D25C-0B84-40C3-BC01-C6E00A749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1856232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01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EFD61C7-6BCA-4976-880B-B38E01AF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21992"/>
            <a:ext cx="28803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Autenticação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3C32C8C-D135-461B-A5A4-3AF60135A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624328"/>
            <a:ext cx="288036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Cadastro e login com e-mail válido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EDF7043C-DA39-42D0-A4DB-7CD8B020A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59" y="1691640"/>
            <a:ext cx="3401568" cy="16276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7339231-FA41-4711-AD4F-8FEB8B235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7" y="1856232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02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929C2CA-700F-4F2F-B7E5-83A1546C1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7" y="2221992"/>
            <a:ext cx="28803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Firestore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B0CB3BC-486D-4507-9608-2672AB0B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7" y="2624328"/>
            <a:ext cx="288036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Criação e leitura de alertas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899D5274-78F8-4025-8F03-12F2507B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1691640"/>
            <a:ext cx="3401568" cy="16276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E4BE43E-A7FC-4E3F-9991-9A58D883D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1856232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03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8A41D20-6023-4209-8AF0-E4093D01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221992"/>
            <a:ext cx="28803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SOS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0CCDBB9A-A027-4EA4-9FAD-CA98BD4A6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624328"/>
            <a:ext cx="288036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Envio do alerta com localização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911A6CE4-D213-4BF7-A9E8-06D6A6B75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21608"/>
            <a:ext cx="3401568" cy="16276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76DBD95-D37F-4D8C-8ABE-5C36995E6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8620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04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A031037-5746-4FB7-AA6B-2E71780B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251960"/>
            <a:ext cx="28803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Operador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F404BC5-5E1A-4CD1-8675-3A7902F7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4654296"/>
            <a:ext cx="288036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Visualização e mudança de status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2728F972-C594-4B31-B47C-90BAA4BD0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59" y="3721608"/>
            <a:ext cx="3401568" cy="16276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3B1B834-E7DB-485D-B22F-3B201679C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7" y="388620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05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F4CB6CED-0E06-4618-B71F-7375B96CC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7" y="4251960"/>
            <a:ext cx="28803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Deploy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1DB067B-607B-4270-A86F-0B977AB3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1727" y="4654296"/>
            <a:ext cx="288036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GitHub conectado à Vercel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CA56AF39-392E-46B8-AC31-0F70B83DD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3721608"/>
            <a:ext cx="3401568" cy="16276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3287A865-5967-44BA-A054-6CFEA8D92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886200"/>
            <a:ext cx="5029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0B5EA8"/>
                </a:solidFill>
                <a:latin typeface="Aptos"/>
                <a:ea typeface="Aptos"/>
                <a:cs typeface="Aptos"/>
              </a:defRPr>
            </a:pPr>
            <a:r>
              <a:t>06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9F1AD8A6-7F8A-491C-9A21-B60C5FEB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251960"/>
            <a:ext cx="288036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Mobile web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994CB5FB-EE32-41F7-8700-E9D7C87C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654296"/>
            <a:ext cx="2880360" cy="4206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Fluxo acessível pelo navegador do celular</a:t>
            </a: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E0E6F869-C23F-4E30-9071-4560604A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870448"/>
            <a:ext cx="10469880" cy="4114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5F6EF"/>
          </a:solidFill>
          <a:ln xmlns:a="http://schemas.openxmlformats.org/drawingml/2006/main">
            <a:solidFill>
              <a:srgbClr val="E5F6E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6EC5A617-407A-42C5-8999-7B8DBEC03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5971032"/>
            <a:ext cx="10058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FA774"/>
                </a:solidFill>
                <a:latin typeface="Aptos"/>
                <a:ea typeface="Aptos"/>
                <a:cs typeface="Aptos"/>
              </a:defRPr>
            </a:pPr>
            <a:r>
              <a:t>MVP funcional: integração técnica do fluxo principal concluída.</a:t>
            </a:r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A9ECE1DB-8D08-415D-BC90-B3644B18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B5C2C82A-C7BE-41AF-B41E-4D4B1C2D3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3471406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82F5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1BCF0F7-CCE1-4CE5-92F2-CF2F3A223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INTELIGÊNCIA DE DADOS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45C4AE3-DE8F-4D3D-8F9F-22AC18541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1792"/>
            <a:ext cx="109728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Do atendimento à prevenção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BD9AC9C0-E349-4F9C-8BB0-1201E472A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179576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9C6E1"/>
                </a:solidFill>
                <a:latin typeface="Aptos"/>
                <a:ea typeface="Aptos"/>
                <a:cs typeface="Aptos"/>
              </a:defRPr>
            </a:pPr>
            <a:r>
              <a:t>O Power BI transforma registros operacionais em informação para gestão.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23C1E083-B4E1-455B-A009-A8BE6ABF2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572768"/>
            <a:ext cx="8001000" cy="4526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7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67274d73704d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6628" y="1664208"/>
            <a:ext cx="7721600" cy="4343400"/>
          </a:xfrm>
          <a:prstGeom xmlns:a="http://schemas.openxmlformats.org/drawingml/2006/main" prst="rect">
            <a:avLst/>
          </a:prstGeom>
        </p:spPr>
      </p:pic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CDE954C-87CF-44FA-AEBE-155B7FB4D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1664208"/>
            <a:ext cx="26974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EA8"/>
          </a:solidFill>
          <a:ln xmlns:a="http://schemas.openxmlformats.org/drawingml/2006/main">
            <a:solidFill>
              <a:srgbClr val="0B5EA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D3C152-4FF3-45B7-8D1B-BA37F8A44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1801368"/>
            <a:ext cx="7132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ONDE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A4C9AA6-34BC-41BB-AD40-2C2AA7AD7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6648" y="1783080"/>
            <a:ext cx="153619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Campi e áreas com maior concentração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972CCE9-B38B-4D4D-9871-B80C77C3F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743200"/>
            <a:ext cx="26974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1B7D7"/>
          </a:solidFill>
          <a:ln xmlns:a="http://schemas.openxmlformats.org/drawingml/2006/main">
            <a:solidFill>
              <a:srgbClr val="31B7D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80BC2E0-3249-4424-A055-D091B3196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880360"/>
            <a:ext cx="7132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QUANDO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9B6B3C-6175-4C34-88FA-9B4FCD1F6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6648" y="2862072"/>
            <a:ext cx="153619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Horários e períodos de maior criticidade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802B0F5F-4B1E-4C69-A240-E147BF5C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3822191"/>
            <a:ext cx="26974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>
            <a:solidFill>
              <a:srgbClr val="F2B13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E7D70E72-D42A-4B4A-AA9A-1EAA6EBE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3959352"/>
            <a:ext cx="7132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COMO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F6A584E-AA36-44AA-8E4E-963C886A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6648" y="3941063"/>
            <a:ext cx="153619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Categorias, status e tempo de resposta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3E3D1EF4-B458-49DF-9AF6-289CE061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4901184"/>
            <a:ext cx="269748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A774"/>
          </a:solidFill>
          <a:ln xmlns:a="http://schemas.openxmlformats.org/drawingml/2006/main">
            <a:solidFill>
              <a:srgbClr val="1FA77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B0CF287-4AFC-44A5-BD4F-7CD3A39C5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5038344"/>
            <a:ext cx="7132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DECIDIR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D8DA66A-4E23-4F58-BF2A-CC30B7FC8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6648" y="5020056"/>
            <a:ext cx="1536192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Rondas, iluminação e alocação de equipes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01C2A269-9125-4445-9964-B81AFCC30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5672" y="5815584"/>
            <a:ext cx="27432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800" b="0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Todos os indicadores apresentados são simulados.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9724EBB-4DF5-4F19-85A4-A0B82404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1C000D32-8305-4EC8-8E47-A05B2623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2695862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7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2D3472-0BE1-4BDA-9CA0-FE222857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20040"/>
            <a:ext cx="45720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EVOLUÇÃO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214E969-566C-4862-ADF0-D61C3EF69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1792"/>
            <a:ext cx="1097280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Caminho para uma solução institucional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7FFABE5D-50B3-444E-93E6-28825810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" y="1179576"/>
            <a:ext cx="107899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A evolução depende de validação com usuários, segurança, governança e capacidade operacional.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2C365349-EDA9-40F4-8871-AE21BE189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828800"/>
            <a:ext cx="2487168" cy="3154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8F0073B-F1A6-4A71-ABCB-B3791726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828800"/>
            <a:ext cx="248716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EA8"/>
          </a:solidFill>
          <a:ln xmlns:a="http://schemas.openxmlformats.org/drawingml/2006/main">
            <a:solidFill>
              <a:srgbClr val="0B5EA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2E0DFD1-9F18-48DD-95D6-E1AB4A86F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1993392"/>
            <a:ext cx="21214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AGORA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4B637B3-66F3-4975-9DC3-576EE9B4E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743200"/>
            <a:ext cx="2084831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MVP conectado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49BBD0D-11BD-41CC-ACCE-35527B75E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02736"/>
            <a:ext cx="1975104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Fluxo SOS + Firebase + painel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AB1F05A-79BA-453A-9141-2253D30C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0672" y="2926080"/>
            <a:ext cx="3291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84290B7-B771-4B53-9C91-8DDC40B6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828800"/>
            <a:ext cx="2487168" cy="3154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3B36802D-DD25-449C-99AC-0D6B5C709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828800"/>
            <a:ext cx="248716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31B7D7"/>
          </a:solidFill>
          <a:ln xmlns:a="http://schemas.openxmlformats.org/drawingml/2006/main">
            <a:solidFill>
              <a:srgbClr val="31B7D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1686484-8087-4541-AA43-D192A4BC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9312" y="1993392"/>
            <a:ext cx="21214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PRÓXIMO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DAAEC5CD-8EC4-45D0-90F6-2D721135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743200"/>
            <a:ext cx="2084831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Pesquisa e piloto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0B1A0AA-7158-415C-9ABD-4D17D826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2464" y="3602736"/>
            <a:ext cx="1975104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Questionário, cenários e testes com usuários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B37EAEE-C6FA-4958-80AA-F099579A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0176" y="2926080"/>
            <a:ext cx="3291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4005ED51-A31E-4664-8AB3-05950E70B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828800"/>
            <a:ext cx="2487168" cy="3154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340B8C2-FABD-40E7-898D-E1BAF245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5936" y="1828800"/>
            <a:ext cx="248716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2B134"/>
          </a:solidFill>
          <a:ln xmlns:a="http://schemas.openxmlformats.org/drawingml/2006/main">
            <a:solidFill>
              <a:srgbClr val="F2B13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7D9491D-7747-48B0-882F-DBBE87B6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8816" y="1993392"/>
            <a:ext cx="21214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DEPOIS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32636C3-AFEB-4B65-9F9D-4CF653906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104" y="2743200"/>
            <a:ext cx="2084831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Governança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8487C1F9-2385-45DB-A6A8-983DF234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1968" y="3602736"/>
            <a:ext cx="1975104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LGPD, protocolos e integrações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15C504F-075D-4E47-8195-E52C4112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926080"/>
            <a:ext cx="329184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→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D9A3C280-1F03-48B8-8936-5966D57E8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1828800"/>
            <a:ext cx="2487168" cy="3154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D7E2EC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05588E0B-48BB-4EAF-9C61-EB083D1D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1828800"/>
            <a:ext cx="248716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FA774"/>
          </a:solidFill>
          <a:ln xmlns:a="http://schemas.openxmlformats.org/drawingml/2006/main">
            <a:solidFill>
              <a:srgbClr val="1FA774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5" name="TextBox 24">
            <a:extLst xmlns:a="http://schemas.openxmlformats.org/drawingml/2006/main">
              <a:ext uri="{FF2B5EF4-FFF2-40B4-BE49-F238E27FC236}">
                <a16:creationId xmlns:a16="http://schemas.microsoft.com/office/drawing/2014/main" id="{947BE3A4-54E8-4F79-BF93-748D16315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8319" y="1993392"/>
            <a:ext cx="2121408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ESCALA</a:t>
            </a:r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5E680D11-DB37-48BA-9F5D-CE47FADA4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6608" y="2743200"/>
            <a:ext cx="2084831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17233A"/>
                </a:solidFill>
                <a:latin typeface="Aptos"/>
                <a:ea typeface="Aptos"/>
                <a:cs typeface="Aptos"/>
              </a:defRPr>
            </a:pPr>
            <a:r>
              <a:t>Operação institucional</a:t>
            </a:r>
          </a:p>
        </p:txBody>
      </p:sp>
      <p:sp>
        <p:nvSpPr>
          <p:cNvPr id="27" name="TextBox 26">
            <a:extLst xmlns:a="http://schemas.openxmlformats.org/drawingml/2006/main">
              <a:ext uri="{FF2B5EF4-FFF2-40B4-BE49-F238E27FC236}">
                <a16:creationId xmlns:a16="http://schemas.microsoft.com/office/drawing/2014/main" id="{F2BFECE0-2450-42FD-ABD4-ECD0A8D6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1472" y="3602736"/>
            <a:ext cx="1975104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0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Monitoramento, SLAs e análise preventiva</a:t>
            </a:r>
          </a:p>
        </p:txBody>
      </p:sp>
      <p:sp>
        <p:nvSpPr>
          <p:cNvPr id="28" name="TextBox 27">
            <a:extLst xmlns:a="http://schemas.openxmlformats.org/drawingml/2006/main">
              <a:ext uri="{FF2B5EF4-FFF2-40B4-BE49-F238E27FC236}">
                <a16:creationId xmlns:a16="http://schemas.microsoft.com/office/drawing/2014/main" id="{E125B787-9C20-4FC2-890B-75196B93F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5650992"/>
            <a:ext cx="106984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82F57"/>
                </a:solidFill>
                <a:latin typeface="Aptos"/>
                <a:ea typeface="Aptos"/>
                <a:cs typeface="Aptos"/>
              </a:defRPr>
            </a:pPr>
            <a:r>
              <a:t>Próxima validação: compreender a percepção de segurança da comunidade e ajustar a solução antes de uma implantação institucional.</a:t>
            </a:r>
          </a:p>
        </p:txBody>
      </p:sp>
      <p:sp>
        <p:nvSpPr>
          <p:cNvPr id="29" name="TextBox 28">
            <a:extLst xmlns:a="http://schemas.openxmlformats.org/drawingml/2006/main">
              <a:ext uri="{FF2B5EF4-FFF2-40B4-BE49-F238E27FC236}">
                <a16:creationId xmlns:a16="http://schemas.microsoft.com/office/drawing/2014/main" id="{7AE12DED-0A78-451F-B918-32EC9A7F6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04819873-440D-45E5-BC52-BB752FCF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0728A"/>
                </a:solidFill>
                <a:latin typeface="Aptos"/>
                <a:ea typeface="Aptos"/>
                <a:cs typeface="Aptos"/>
              </a:defRPr>
            </a:pPr>
            <a: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70441594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82F5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578F94D-66BF-484E-8BCA-6ED090BB2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46304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B7D7"/>
          </a:solidFill>
          <a:ln xmlns:a="http://schemas.openxmlformats.org/drawingml/2006/main">
            <a:solidFill>
              <a:srgbClr val="31B7D7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6622465-1CC6-4938-951E-26613313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85800"/>
            <a:ext cx="36576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31B7D7"/>
                </a:solidFill>
                <a:latin typeface="Aptos"/>
                <a:ea typeface="Aptos"/>
                <a:cs typeface="Aptos"/>
              </a:defRPr>
            </a:pPr>
            <a:r>
              <a:t>UNIGUARD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B7B9D93-D647-4229-91AE-585460C0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17320"/>
            <a:ext cx="7498079" cy="1325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Tecnologia para tornar</a:t>
            </a:r>
            <a:br/>
            <a:r>
              <a:t>o cuidado mais próximo.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4EE0400-8D6B-4A07-AA19-067BF9A7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3154680"/>
            <a:ext cx="60350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B8CCE0"/>
                </a:solidFill>
                <a:latin typeface="Aptos"/>
                <a:ea typeface="Aptos"/>
                <a:cs typeface="Aptos"/>
              </a:defRPr>
            </a:pPr>
            <a:r>
              <a:t>Projeto tecnológico em desenvolvimento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E05DD449-68CC-4D20-BBE9-E7A5DFAC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858768"/>
            <a:ext cx="521208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5EA8"/>
          </a:solidFill>
          <a:ln xmlns:a="http://schemas.openxmlformats.org/drawingml/2006/main">
            <a:solidFill>
              <a:srgbClr val="0B5EA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3677854-6445-41CB-B21B-11A7C932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" y="4059936"/>
            <a:ext cx="4736592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uniguardvercelapp.vercel.app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86CA7AA7-08B5-4159-8ABD-F96E2C35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5230368"/>
            <a:ext cx="50292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Idealização, concepção do produto e prototipação
Priscilla Cahino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59BA1C9B-9180-4EF4-98FE-6FBB96DF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0768" y="1143000"/>
            <a:ext cx="2606040" cy="26060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solidFill>
              <a:srgbClr val="FFFFFF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23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a7e39ee9ae46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96528" y="1508760"/>
            <a:ext cx="1874519" cy="1874519"/>
          </a:xfrm>
          <a:prstGeom xmlns:a="http://schemas.openxmlformats.org/drawingml/2006/main" prst="rect">
            <a:avLst/>
          </a:prstGeom>
        </p:spPr>
      </p:pic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F3B7B87-4C5C-4737-AF36-8902FE30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160520"/>
            <a:ext cx="3337560" cy="47548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SEGURANÇA • LOCALIZAÇÃO • RESPOSTA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D51E408-3985-402C-8F8A-CB84E7CD3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510528"/>
            <a:ext cx="64008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PROTÓTIPO ACADÊMICO • DADOS DEMONSTRATIVOS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06A4D73-F504-4E5B-A90D-66A6566A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492240"/>
            <a:ext cx="50292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45720" rIns="45720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FB4D9"/>
                </a:solidFill>
                <a:latin typeface="Aptos"/>
                <a:ea typeface="Aptos"/>
                <a:cs typeface="Aptos"/>
              </a:defRPr>
            </a:pPr>
            <a: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0210666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2026-09-10T12:44:20.9370000Z</dcterms:created>
  <dcterms:modified xsi:type="dcterms:W3CDTF">2026-09-10T12:44:20.9370000Z</dcterms:modified>
</coreProperties>
</file>